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Kids Explorer AI is one ecosystem: a website, a Google Play Android app and an admin dashboard that controls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B0B4F"/>
            </a:gs>
            <a:gs pos="100000">
              <a:srgbClr val="0B0B2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9" name="Rounded Rectangle 18"/>
          <p:cNvSpPr/>
          <p:nvPr/>
        </p:nvSpPr>
        <p:spPr>
          <a:xfrm>
            <a:off x="6611112" y="987552"/>
            <a:ext cx="4608576" cy="2928366"/>
          </a:xfrm>
          <a:prstGeom prst="roundRect">
            <a:avLst>
              <a:gd name="adj" fmla="val 4000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4FA3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5C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5852160"/>
            <a:ext cx="2194560" cy="2194560"/>
          </a:xfrm>
          <a:prstGeom prst="ellipse">
            <a:avLst/>
          </a:prstGeom>
          <a:solidFill>
            <a:srgbClr val="FFC93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66560" y="-2011680"/>
            <a:ext cx="6400800" cy="6400800"/>
          </a:xfrm>
          <a:prstGeom prst="ellipse">
            <a:avLst/>
          </a:prstGeom>
          <a:solidFill>
            <a:srgbClr val="FF4FA3">
              <a:alpha val="21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3108960"/>
            <a:ext cx="4572000" cy="4572000"/>
          </a:xfrm>
          <a:prstGeom prst="ellipse">
            <a:avLst/>
          </a:prstGeom>
          <a:solidFill>
            <a:srgbClr val="1E90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731520"/>
            <a:ext cx="6400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>
                <a:solidFill>
                  <a:srgbClr val="FFC93C"/>
                </a:solidFill>
                <a:latin typeface="Calibri"/>
              </a:rPr>
              <a:t>🚀  A free AI learning world for kids aged 2–10+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66928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 Black"/>
              </a:rPr>
              <a:t>Kids Explorer</a:t>
            </a:r>
          </a:p>
          <a:p>
            <a:pPr algn="l"/>
            <a:r>
              <a:rPr sz="5400" b="1">
                <a:solidFill>
                  <a:srgbClr val="FFFFFF"/>
                </a:solidFill>
                <a:latin typeface="Arial Black"/>
              </a:rP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566928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900" b="0">
                <a:solidFill>
                  <a:srgbClr val="C9C3E6"/>
                </a:solidFill>
                <a:latin typeface="Calibri"/>
              </a:rPr>
              <a:t>Alphabets • Stories • Brain games • Talking AI buddy • Cartoons — in English, বাংলা and more. No sign-up. Safe. Colorful.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34840"/>
            <a:ext cx="1572064" cy="347472"/>
          </a:xfrm>
          <a:prstGeom prst="roundRect">
            <a:avLst>
              <a:gd name="adj" fmla="val 50000"/>
            </a:avLst>
          </a:prstGeom>
          <a:solidFill>
            <a:srgbClr val="FF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🌐 Website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21872" y="4434840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📱 Android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000" y="4434840"/>
            <a:ext cx="2305343" cy="347472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🛠️ Admin panel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83480"/>
            <a:ext cx="1223889" cy="347472"/>
          </a:xfrm>
          <a:prstGeom prst="roundRect">
            <a:avLst>
              <a:gd name="adj" fmla="val 50000"/>
            </a:avLst>
          </a:prstGeom>
          <a:solidFill>
            <a:srgbClr val="2A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 sign-ups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73697" y="4983480"/>
            <a:ext cx="1320956" cy="347472"/>
          </a:xfrm>
          <a:prstGeom prst="roundRect">
            <a:avLst>
              <a:gd name="adj" fmla="val 50000"/>
            </a:avLst>
          </a:prstGeom>
          <a:solidFill>
            <a:srgbClr val="2A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 languages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4381" y="4983480"/>
            <a:ext cx="1903358" cy="347472"/>
          </a:xfrm>
          <a:prstGeom prst="roundRect">
            <a:avLst>
              <a:gd name="adj" fmla="val 50000"/>
            </a:avLst>
          </a:prstGeom>
          <a:solidFill>
            <a:srgbClr val="2A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15 explore topics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17467" y="4983480"/>
            <a:ext cx="1612157" cy="347472"/>
          </a:xfrm>
          <a:prstGeom prst="roundRect">
            <a:avLst>
              <a:gd name="adj" fmla="val 50000"/>
            </a:avLst>
          </a:prstGeom>
          <a:solidFill>
            <a:srgbClr val="2A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 brain games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9352" y="4983480"/>
            <a:ext cx="2059510" cy="347472"/>
          </a:xfrm>
          <a:prstGeom prst="roundRect">
            <a:avLst>
              <a:gd name="adj" fmla="val 50000"/>
            </a:avLst>
          </a:prstGeom>
          <a:solidFill>
            <a:srgbClr val="2A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100% free AI buddy</a:t>
            </a:r>
          </a:p>
        </p:txBody>
      </p:sp>
      <p:pic>
        <p:nvPicPr>
          <p:cNvPr id="18" name="Picture 17" descr="web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51560"/>
            <a:ext cx="4480560" cy="280035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9866376" y="2862072"/>
            <a:ext cx="1824228" cy="3648456"/>
          </a:xfrm>
          <a:prstGeom prst="roundRect">
            <a:avLst>
              <a:gd name="adj" fmla="val 9000"/>
            </a:avLst>
          </a:prstGeom>
          <a:solidFill>
            <a:srgbClr val="0E0B1C"/>
          </a:solidFill>
          <a:ln w="25400">
            <a:solidFill>
              <a:srgbClr val="4A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3-home-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063240"/>
            <a:ext cx="1623060" cy="324612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0549890" y="2912364"/>
            <a:ext cx="457200" cy="64008"/>
          </a:xfrm>
          <a:prstGeom prst="roundRect">
            <a:avLst>
              <a:gd name="adj" fmla="val 50000"/>
            </a:avLst>
          </a:prstGeom>
          <a:solidFill>
            <a:srgbClr val="33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9C3E6"/>
                </a:solidFill>
                <a:latin typeface="Calibri"/>
              </a:rPr>
              <a:t>Kids Explorer AI  ·  Learn • Play • Imagine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C9C3E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B1530"/>
            </a:gs>
            <a:gs pos="100000">
              <a:srgbClr val="2A214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4FA3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5C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5852160"/>
            <a:ext cx="2194560" cy="2194560"/>
          </a:xfrm>
          <a:prstGeom prst="ellipse">
            <a:avLst/>
          </a:prstGeom>
          <a:solidFill>
            <a:srgbClr val="FFC93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633046" cy="347472"/>
          </a:xfrm>
          <a:prstGeom prst="roundRect">
            <a:avLst>
              <a:gd name="adj" fmla="val 50000"/>
            </a:avLst>
          </a:prstGeom>
          <a:solidFill>
            <a:srgbClr val="FF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15568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Learning that feels like a game — safe &amp; free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606040" cy="3291840"/>
          </a:xfrm>
          <a:prstGeom prst="roundRect">
            <a:avLst>
              <a:gd name="adj" fmla="val 12000"/>
            </a:avLst>
          </a:prstGeom>
          <a:solidFill>
            <a:srgbClr val="FF4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21031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Calibri"/>
              </a:rPr>
              <a:t>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21945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Zero barrier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214884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No account, no email, no payment. Type a name and play.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286000"/>
            <a:ext cx="2606040" cy="3291840"/>
          </a:xfrm>
          <a:prstGeom prst="roundRect">
            <a:avLst>
              <a:gd name="adj" fmla="val 12000"/>
            </a:avLst>
          </a:prstGeom>
          <a:solidFill>
            <a:srgbClr val="1E90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514600"/>
            <a:ext cx="21031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Calibri"/>
              </a:rPr>
              <a:t>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520440"/>
            <a:ext cx="21945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Multilingual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160520"/>
            <a:ext cx="214884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English, বাংলা, Español, Français, हिन्दी + any language the admin adds.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286000"/>
            <a:ext cx="2606040" cy="3291840"/>
          </a:xfrm>
          <a:prstGeom prst="roundRect">
            <a:avLst>
              <a:gd name="adj" fmla="val 12000"/>
            </a:avLst>
          </a:prstGeom>
          <a:solidFill>
            <a:srgbClr val="22B57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514600"/>
            <a:ext cx="21031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520440"/>
            <a:ext cx="21945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Learn by doing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160520"/>
            <a:ext cx="214884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See → hear → trace → say. Every activity is a 2–5 minute "level".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2286000"/>
            <a:ext cx="2606040" cy="3291840"/>
          </a:xfrm>
          <a:prstGeom prst="roundRect">
            <a:avLst>
              <a:gd name="adj" fmla="val 12000"/>
            </a:avLst>
          </a:prstGeom>
          <a:solidFill>
            <a:srgbClr val="FF8A3D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514600"/>
            <a:ext cx="21031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520440"/>
            <a:ext cx="21945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Safe by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160520"/>
            <a:ext cx="214884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Data stays on the device. Child-directed ads. Parental gates.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C9C3E6"/>
                </a:solidFill>
                <a:latin typeface="Calibri"/>
              </a:rPr>
              <a:t>Design informed by leading early-learning apps (Khan Academy Kids, Lingokids, Duolingo ABC): age-adaptive, short lessons, levels &amp; rewards.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9C3E6"/>
                </a:solidFill>
                <a:latin typeface="Calibri"/>
              </a:rPr>
              <a:t>Kids Explorer AI  ·  Learn • Play • Imagine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C9C3E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B1530"/>
            </a:gs>
            <a:gs pos="100000">
              <a:srgbClr val="2A214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4FA3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5C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5852160"/>
            <a:ext cx="2194560" cy="2194560"/>
          </a:xfrm>
          <a:prstGeom prst="ellipse">
            <a:avLst/>
          </a:prstGeom>
          <a:solidFill>
            <a:srgbClr val="FFC93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392701" cy="347472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15568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Three apps · one content brain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66160" cy="2103120"/>
          </a:xfrm>
          <a:prstGeom prst="roundRect">
            <a:avLst>
              <a:gd name="adj" fmla="val 12000"/>
            </a:avLst>
          </a:prstGeom>
          <a:solidFill>
            <a:srgbClr val="FF4FA3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9144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286000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Kids 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31089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React 18 · Vite · Framer Motion · Web Speech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11880"/>
            <a:ext cx="2004646" cy="347472"/>
          </a:xfrm>
          <a:prstGeom prst="roundRect">
            <a:avLst>
              <a:gd name="adj" fmla="val 50000"/>
            </a:avLst>
          </a:prstGeom>
          <a:solidFill>
            <a:srgbClr val="1B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🌿 feature/web-app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011680"/>
            <a:ext cx="3566160" cy="2103120"/>
          </a:xfrm>
          <a:prstGeom prst="roundRect">
            <a:avLst>
              <a:gd name="adj" fmla="val 12000"/>
            </a:avLst>
          </a:prstGeom>
          <a:solidFill>
            <a:srgbClr val="22B573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148840"/>
            <a:ext cx="9144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286000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Android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063240"/>
            <a:ext cx="31089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Flutter · AdMob (Families) · on-device TTS &amp; speech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3611880"/>
            <a:ext cx="2295847" cy="347472"/>
          </a:xfrm>
          <a:prstGeom prst="roundRect">
            <a:avLst>
              <a:gd name="adj" fmla="val 50000"/>
            </a:avLst>
          </a:prstGeom>
          <a:solidFill>
            <a:srgbClr val="1B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🌿 feature/mobile-app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011680"/>
            <a:ext cx="3566160" cy="2103120"/>
          </a:xfrm>
          <a:prstGeom prst="roundRect">
            <a:avLst>
              <a:gd name="adj" fmla="val 12000"/>
            </a:avLst>
          </a:prstGeom>
          <a:solidFill>
            <a:srgbClr val="7C5C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148840"/>
            <a:ext cx="9144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Calibri"/>
              </a:rPr>
              <a:t>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286000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Admin Panel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63240"/>
            <a:ext cx="31089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React · Tailwind CSS · Recharts · Supabase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3611880"/>
            <a:ext cx="2392914" cy="347472"/>
          </a:xfrm>
          <a:prstGeom prst="roundRect">
            <a:avLst>
              <a:gd name="adj" fmla="val 50000"/>
            </a:avLst>
          </a:prstGeom>
          <a:solidFill>
            <a:srgbClr val="1B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🌿 feature/admin-panel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34840"/>
            <a:ext cx="11064240" cy="1783080"/>
          </a:xfrm>
          <a:prstGeom prst="roundRect">
            <a:avLst>
              <a:gd name="adj" fmla="val 12000"/>
            </a:avLst>
          </a:prstGeom>
          <a:solidFill>
            <a:srgbClr val="FFFFFF">
              <a:alpha val="7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🗄️  </a:t>
            </a:r>
            <a:r>
              <a:rPr sz="1500" b="1">
                <a:solidFill>
                  <a:srgbClr val="FFC93C"/>
                </a:solidFill>
                <a:latin typeface="Calibri"/>
              </a:rPr>
              <a:t>Supabase backend (optional, free tier): </a:t>
            </a:r>
            <a:r>
              <a:rPr sz="1500" b="0">
                <a:solidFill>
                  <a:srgbClr val="FFFFFF"/>
                </a:solidFill>
                <a:latin typeface="Calibri"/>
              </a:rPr>
              <a:t>Postgres JSONB content + Row-Level Security, media storage, anonymous insert-only analytics, optional AI edge function.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📦  </a:t>
            </a:r>
            <a:r>
              <a:rPr sz="1500" b="1">
                <a:solidFill>
                  <a:srgbClr val="FFC93C"/>
                </a:solidFill>
                <a:latin typeface="Calibri"/>
              </a:rPr>
              <a:t>Offline-first: </a:t>
            </a:r>
            <a:r>
              <a:rPr sz="1500" b="0">
                <a:solidFill>
                  <a:srgbClr val="FFFFFF"/>
                </a:solidFill>
                <a:latin typeface="Calibri"/>
              </a:rPr>
              <a:t>every app ships the bundled content, caches the latest admin version and refreshes in the background.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🔁  </a:t>
            </a:r>
            <a:r>
              <a:rPr sz="1500" b="1">
                <a:solidFill>
                  <a:srgbClr val="FFC93C"/>
                </a:solidFill>
                <a:latin typeface="Calibri"/>
              </a:rPr>
              <a:t>No backend? </a:t>
            </a:r>
            <a:r>
              <a:rPr sz="1500" b="0">
                <a:solidFill>
                  <a:srgbClr val="FFFFFF"/>
                </a:solidFill>
                <a:latin typeface="Calibri"/>
              </a:rPr>
              <a:t>Admin demo mode exports one content.json that the website and app can load from any static host.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9C3E6"/>
                </a:solidFill>
                <a:latin typeface="Calibri"/>
              </a:rPr>
              <a:t>Kids Explorer AI  ·  Learn • Play • Imagine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C9C3E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B1530"/>
            </a:gs>
            <a:gs pos="100000">
              <a:srgbClr val="2A214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1" name="Rounded Rectangle 20"/>
          <p:cNvSpPr/>
          <p:nvPr/>
        </p:nvSpPr>
        <p:spPr>
          <a:xfrm>
            <a:off x="4507992" y="2176272"/>
            <a:ext cx="5065776" cy="3214116"/>
          </a:xfrm>
          <a:prstGeom prst="roundRect">
            <a:avLst>
              <a:gd name="adj" fmla="val 4000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4FA3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5C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5852160"/>
            <a:ext cx="2194560" cy="2194560"/>
          </a:xfrm>
          <a:prstGeom prst="ellipse">
            <a:avLst/>
          </a:prstGeom>
          <a:solidFill>
            <a:srgbClr val="FFC93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616377" cy="347472"/>
          </a:xfrm>
          <a:prstGeom prst="roundRect">
            <a:avLst>
              <a:gd name="adj" fmla="val 50000"/>
            </a:avLst>
          </a:prstGeom>
          <a:solidFill>
            <a:srgbClr val="FF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KID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15568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Onboarding is the first game: 4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0">
                <a:solidFill>
                  <a:srgbClr val="C9C3E6"/>
                </a:solidFill>
                <a:latin typeface="Calibri"/>
              </a:rPr>
              <a:t>An animated robot asks (and speaks) each question — name → age → hero → magic colors.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640080" cy="640080"/>
          </a:xfrm>
          <a:prstGeom prst="ellipse">
            <a:avLst/>
          </a:prstGeom>
          <a:solidFill>
            <a:srgbClr val="FF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/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13432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✍️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60904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C9C3E6"/>
                </a:solidFill>
                <a:latin typeface="Calibri"/>
              </a:rPr>
              <a:t>Live "Hello Mahi!"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64408"/>
            <a:ext cx="640080" cy="64008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46120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🎈 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593592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C9C3E6"/>
                </a:solidFill>
                <a:latin typeface="Calibri"/>
              </a:rPr>
              <a:t>2–4 · 5–7 · 8–10+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197096"/>
            <a:ext cx="640080" cy="640080"/>
          </a:xfrm>
          <a:prstGeom prst="ellipse">
            <a:avLst/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78808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🦸 Hero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26280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C9C3E6"/>
                </a:solidFill>
                <a:latin typeface="Calibri"/>
              </a:rPr>
              <a:t>Boy · Girl · Superhero · Robot · Cosmic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129783"/>
            <a:ext cx="640080" cy="640080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/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111495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🎨 Theme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458967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C9C3E6"/>
                </a:solidFill>
                <a:latin typeface="Calibri"/>
              </a:rPr>
              <a:t>"★ for you" picked by hero</a:t>
            </a:r>
          </a:p>
        </p:txBody>
      </p:sp>
      <p:pic>
        <p:nvPicPr>
          <p:cNvPr id="20" name="Picture 19" descr="web-onboarding-the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40280"/>
            <a:ext cx="4937760" cy="30861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912096" y="2039112"/>
            <a:ext cx="2121408" cy="4242816"/>
          </a:xfrm>
          <a:prstGeom prst="roundRect">
            <a:avLst>
              <a:gd name="adj" fmla="val 9000"/>
            </a:avLst>
          </a:prstGeom>
          <a:solidFill>
            <a:srgbClr val="0E0B1C"/>
          </a:solidFill>
          <a:ln w="25400">
            <a:solidFill>
              <a:srgbClr val="4A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1-onboar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240280"/>
            <a:ext cx="1920240" cy="384048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10744200" y="2089404"/>
            <a:ext cx="457200" cy="64008"/>
          </a:xfrm>
          <a:prstGeom prst="roundRect">
            <a:avLst>
              <a:gd name="adj" fmla="val 50000"/>
            </a:avLst>
          </a:prstGeom>
          <a:solidFill>
            <a:srgbClr val="33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989320"/>
            <a:ext cx="4023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C9C3E6"/>
                </a:solidFill>
                <a:latin typeface="Calibri"/>
              </a:rPr>
              <a:t>Saved only on the device (LocalStorage / SharedPreferences).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9C3E6"/>
                </a:solidFill>
                <a:latin typeface="Calibri"/>
              </a:rPr>
              <a:t>Kids Explorer AI  ·  Learn • Play • Imagine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C9C3E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B1530"/>
            </a:gs>
            <a:gs pos="100000">
              <a:srgbClr val="2A214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576072" y="1764792"/>
            <a:ext cx="6711696" cy="4242816"/>
          </a:xfrm>
          <a:prstGeom prst="roundRect">
            <a:avLst>
              <a:gd name="adj" fmla="val 4000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4FA3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5C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5852160"/>
            <a:ext cx="2194560" cy="2194560"/>
          </a:xfrm>
          <a:prstGeom prst="ellipse">
            <a:avLst/>
          </a:prstGeom>
          <a:solidFill>
            <a:srgbClr val="FFC93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519310" cy="347472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15568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A map that keeps kids coming back</a:t>
            </a:r>
          </a:p>
        </p:txBody>
      </p:sp>
      <p:pic>
        <p:nvPicPr>
          <p:cNvPr id="7" name="Picture 6" descr="web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65836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0" y="182880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🗺️  </a:t>
            </a:r>
            <a:r>
              <a:rPr sz="1600" b="1">
                <a:solidFill>
                  <a:srgbClr val="FFC93C"/>
                </a:solidFill>
                <a:latin typeface="Calibri"/>
              </a:rPr>
              <a:t>Levels on a map </a:t>
            </a:r>
            <a:r>
              <a:rPr sz="1600" b="0">
                <a:solidFill>
                  <a:srgbClr val="FFFFFF"/>
                </a:solidFill>
                <a:latin typeface="Calibri"/>
              </a:rPr>
              <a:t>— admin chooses which modules appear and in which order.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⭐  </a:t>
            </a:r>
            <a:r>
              <a:rPr sz="1600" b="1">
                <a:solidFill>
                  <a:srgbClr val="FFC93C"/>
                </a:solidFill>
                <a:latin typeface="Calibri"/>
              </a:rPr>
              <a:t>Stars → levels </a:t>
            </a:r>
            <a:r>
              <a:rPr sz="1600" b="0">
                <a:solidFill>
                  <a:srgbClr val="FFFFFF"/>
                </a:solidFill>
                <a:latin typeface="Calibri"/>
              </a:rPr>
              <a:t>(every 10 stars) with an animated progress bar.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🎯  </a:t>
            </a:r>
            <a:r>
              <a:rPr sz="1600" b="1">
                <a:solidFill>
                  <a:srgbClr val="FFC93C"/>
                </a:solidFill>
                <a:latin typeface="Calibri"/>
              </a:rPr>
              <a:t>Daily missions </a:t>
            </a:r>
            <a:r>
              <a:rPr sz="1600" b="0">
                <a:solidFill>
                  <a:srgbClr val="FFFFFF"/>
                </a:solidFill>
                <a:latin typeface="Calibri"/>
              </a:rPr>
              <a:t>rotate every day across modules — spaced practice.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🔥  </a:t>
            </a:r>
            <a:r>
              <a:rPr sz="1600" b="1">
                <a:solidFill>
                  <a:srgbClr val="FFC93C"/>
                </a:solidFill>
                <a:latin typeface="Calibri"/>
              </a:rPr>
              <a:t>Streaks, 🎁 stickers </a:t>
            </a:r>
            <a:r>
              <a:rPr sz="1600" b="0">
                <a:solidFill>
                  <a:srgbClr val="FFFFFF"/>
                </a:solidFill>
                <a:latin typeface="Calibri"/>
              </a:rPr>
              <a:t>(every 5 ⭐) and 🏅 7 badges.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🎉  </a:t>
            </a:r>
            <a:r>
              <a:rPr sz="1600" b="1">
                <a:solidFill>
                  <a:srgbClr val="FFC93C"/>
                </a:solidFill>
                <a:latin typeface="Calibri"/>
              </a:rPr>
              <a:t>Confetti, sounds &amp; haptics </a:t>
            </a:r>
            <a:r>
              <a:rPr sz="1600" b="0">
                <a:solidFill>
                  <a:srgbClr val="FFFFFF"/>
                </a:solidFill>
                <a:latin typeface="Calibri"/>
              </a:rPr>
              <a:t>on every win.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⏱️  </a:t>
            </a:r>
            <a:r>
              <a:rPr sz="1600" b="1">
                <a:solidFill>
                  <a:srgbClr val="FFC93C"/>
                </a:solidFill>
                <a:latin typeface="Calibri"/>
              </a:rPr>
              <a:t>Healthy limits: </a:t>
            </a:r>
            <a:r>
              <a:rPr sz="1600" b="0">
                <a:solidFill>
                  <a:srgbClr val="FFFFFF"/>
                </a:solidFill>
                <a:latin typeface="Calibri"/>
              </a:rPr>
              <a:t>daily screen time + wiggle-break reminders.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9C3E6"/>
                </a:solidFill>
                <a:latin typeface="Calibri"/>
              </a:rPr>
              <a:t>Kids Explorer AI  ·  Learn • Play • Imagine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C9C3E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3A0B3F"/>
            </a:gs>
            <a:gs pos="100000">
              <a:srgbClr val="1B15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576072" y="1764792"/>
            <a:ext cx="5980176" cy="3785616"/>
          </a:xfrm>
          <a:prstGeom prst="roundRect">
            <a:avLst>
              <a:gd name="adj" fmla="val 4000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4FA3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5C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5852160"/>
            <a:ext cx="2194560" cy="2194560"/>
          </a:xfrm>
          <a:prstGeom prst="ellipse">
            <a:avLst/>
          </a:prstGeom>
          <a:solidFill>
            <a:srgbClr val="FFC93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2443558" cy="347472"/>
          </a:xfrm>
          <a:prstGeom prst="roundRect">
            <a:avLst>
              <a:gd name="adj" fmla="val 50000"/>
            </a:avLst>
          </a:prstGeom>
          <a:solidFill>
            <a:srgbClr val="FF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ALPHABET &amp; PHONICS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15568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See it · hear it · trace it · say it</a:t>
            </a:r>
          </a:p>
        </p:txBody>
      </p:sp>
      <p:pic>
        <p:nvPicPr>
          <p:cNvPr id="7" name="Picture 6" descr="web-alphabet-let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85216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03136" y="1627632"/>
            <a:ext cx="2258568" cy="4517136"/>
          </a:xfrm>
          <a:prstGeom prst="roundRect">
            <a:avLst>
              <a:gd name="adj" fmla="val 9000"/>
            </a:avLst>
          </a:prstGeom>
          <a:solidFill>
            <a:srgbClr val="0E0B1C"/>
          </a:solidFill>
          <a:ln w="25400">
            <a:solidFill>
              <a:srgbClr val="4A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alphabet-bang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28800"/>
            <a:ext cx="2057400" cy="4114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703820" y="1677924"/>
            <a:ext cx="457200" cy="64008"/>
          </a:xfrm>
          <a:prstGeom prst="roundRect">
            <a:avLst>
              <a:gd name="adj" fmla="val 50000"/>
            </a:avLst>
          </a:prstGeom>
          <a:solidFill>
            <a:srgbClr val="33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1828800"/>
            <a:ext cx="2651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🇬🇧  </a:t>
            </a:r>
            <a:r>
              <a:rPr sz="1500" b="1">
                <a:solidFill>
                  <a:srgbClr val="FFC93C"/>
                </a:solidFill>
                <a:latin typeface="Calibri"/>
              </a:rPr>
              <a:t>English </a:t>
            </a:r>
            <a:r>
              <a:rPr sz="1500" b="0">
                <a:solidFill>
                  <a:srgbClr val="FFFFFF"/>
                </a:solidFill>
                <a:latin typeface="Calibri"/>
              </a:rPr>
              <a:t>26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🇧🇩  </a:t>
            </a:r>
            <a:r>
              <a:rPr sz="1500" b="1">
                <a:solidFill>
                  <a:srgbClr val="FFC93C"/>
                </a:solidFill>
                <a:latin typeface="Calibri"/>
              </a:rPr>
              <a:t>বাংলা </a:t>
            </a:r>
            <a:r>
              <a:rPr sz="1500" b="0">
                <a:solidFill>
                  <a:srgbClr val="FFFFFF"/>
                </a:solidFill>
                <a:latin typeface="Calibri"/>
              </a:rPr>
              <a:t>11 + 39 + ০-৯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🇪🇸  </a:t>
            </a:r>
            <a:r>
              <a:rPr sz="1500" b="1">
                <a:solidFill>
                  <a:srgbClr val="FFC93C"/>
                </a:solidFill>
                <a:latin typeface="Calibri"/>
              </a:rPr>
              <a:t>Español </a:t>
            </a:r>
            <a:r>
              <a:rPr sz="1500" b="0">
                <a:solidFill>
                  <a:srgbClr val="FFFFFF"/>
                </a:solidFill>
                <a:latin typeface="Calibri"/>
              </a:rPr>
              <a:t>27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🇫🇷  </a:t>
            </a:r>
            <a:r>
              <a:rPr sz="1500" b="1">
                <a:solidFill>
                  <a:srgbClr val="FFC93C"/>
                </a:solidFill>
                <a:latin typeface="Calibri"/>
              </a:rPr>
              <a:t>Français </a:t>
            </a:r>
            <a:r>
              <a:rPr sz="1500" b="0">
                <a:solidFill>
                  <a:srgbClr val="FFFFFF"/>
                </a:solidFill>
                <a:latin typeface="Calibri"/>
              </a:rPr>
              <a:t>26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🇮🇳  </a:t>
            </a:r>
            <a:r>
              <a:rPr sz="1500" b="1">
                <a:solidFill>
                  <a:srgbClr val="FFC93C"/>
                </a:solidFill>
                <a:latin typeface="Calibri"/>
              </a:rPr>
              <a:t>हिन्दी </a:t>
            </a:r>
            <a:r>
              <a:rPr sz="1500" b="0">
                <a:solidFill>
                  <a:srgbClr val="FFFFFF"/>
                </a:solidFill>
                <a:latin typeface="Calibri"/>
              </a:rPr>
              <a:t>12 + 31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➕  </a:t>
            </a:r>
            <a:r>
              <a:rPr sz="1500" b="1">
                <a:solidFill>
                  <a:srgbClr val="FFC93C"/>
                </a:solidFill>
                <a:latin typeface="Calibri"/>
              </a:rPr>
              <a:t>Any language </a:t>
            </a:r>
            <a:r>
              <a:rPr sz="1500" b="0">
                <a:solidFill>
                  <a:srgbClr val="FFFFFF"/>
                </a:solidFill>
                <a:latin typeface="Calibri"/>
              </a:rPr>
              <a:t>added by admin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✏️  </a:t>
            </a:r>
            <a:r>
              <a:rPr sz="1500" b="1">
                <a:solidFill>
                  <a:srgbClr val="FFC93C"/>
                </a:solidFill>
                <a:latin typeface="Calibri"/>
              </a:rPr>
              <a:t>Tracing </a:t>
            </a:r>
            <a:r>
              <a:rPr sz="1500" b="0">
                <a:solidFill>
                  <a:srgbClr val="FFFFFF"/>
                </a:solidFill>
                <a:latin typeface="Calibri"/>
              </a:rPr>
              <a:t>with sparkle particles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🎤  </a:t>
            </a:r>
            <a:r>
              <a:rPr sz="1500" b="1">
                <a:solidFill>
                  <a:srgbClr val="FFC93C"/>
                </a:solidFill>
                <a:latin typeface="Calibri"/>
              </a:rPr>
              <a:t>Pronunciation </a:t>
            </a:r>
            <a:r>
              <a:rPr sz="1500" b="0">
                <a:solidFill>
                  <a:srgbClr val="FFFFFF"/>
                </a:solidFill>
                <a:latin typeface="Calibri"/>
              </a:rPr>
              <a:t>0-3 ⭐ + slow syllables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9C3E6"/>
                </a:solidFill>
                <a:latin typeface="Calibri"/>
              </a:rPr>
              <a:t>Kids Explorer AI  ·  Learn • Play • Imagine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C9C3E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2B4F"/>
            </a:gs>
            <a:gs pos="100000">
              <a:srgbClr val="1B15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576072" y="2221992"/>
            <a:ext cx="6163056" cy="3899916"/>
          </a:xfrm>
          <a:prstGeom prst="roundRect">
            <a:avLst>
              <a:gd name="adj" fmla="val 4000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4FA3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5C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5852160"/>
            <a:ext cx="2194560" cy="2194560"/>
          </a:xfrm>
          <a:prstGeom prst="ellipse">
            <a:avLst/>
          </a:prstGeom>
          <a:solidFill>
            <a:srgbClr val="FFC93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STORYTELLER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15568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Flip-book stories that read themselves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0">
                <a:solidFill>
                  <a:srgbClr val="C9C3E6"/>
                </a:solidFill>
                <a:latin typeface="Calibri"/>
              </a:rPr>
              <a:t>Narration with word-by-word highlighting → moral of the story → quiz → stars.</a:t>
            </a:r>
          </a:p>
        </p:txBody>
      </p:sp>
      <p:pic>
        <p:nvPicPr>
          <p:cNvPr id="8" name="Picture 7" descr="web-s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6035040" cy="37719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031736" y="1993392"/>
            <a:ext cx="2167128" cy="4334256"/>
          </a:xfrm>
          <a:prstGeom prst="roundRect">
            <a:avLst>
              <a:gd name="adj" fmla="val 9000"/>
            </a:avLst>
          </a:prstGeom>
          <a:solidFill>
            <a:srgbClr val="0E0B1C"/>
          </a:solidFill>
          <a:ln w="25400">
            <a:solidFill>
              <a:srgbClr val="4A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-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194560"/>
            <a:ext cx="1965960" cy="3931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886700" y="2043684"/>
            <a:ext cx="457200" cy="64008"/>
          </a:xfrm>
          <a:prstGeom prst="roundRect">
            <a:avLst>
              <a:gd name="adj" fmla="val 50000"/>
            </a:avLst>
          </a:prstGeom>
          <a:solidFill>
            <a:srgbClr val="33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2286000"/>
            <a:ext cx="2651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📖  </a:t>
            </a:r>
            <a:r>
              <a:rPr sz="1500" b="1">
                <a:solidFill>
                  <a:srgbClr val="FFC93C"/>
                </a:solidFill>
                <a:latin typeface="Calibri"/>
              </a:rPr>
              <a:t>3D page flip </a:t>
            </a:r>
            <a:r>
              <a:rPr sz="1500" b="0">
                <a:solidFill>
                  <a:srgbClr val="FFFFFF"/>
                </a:solidFill>
                <a:latin typeface="Calibri"/>
              </a:rPr>
              <a:t>&amp; swipe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🔊  </a:t>
            </a:r>
            <a:r>
              <a:rPr sz="1500" b="1">
                <a:solidFill>
                  <a:srgbClr val="FFC93C"/>
                </a:solidFill>
                <a:latin typeface="Calibri"/>
              </a:rPr>
              <a:t>Read to me </a:t>
            </a:r>
            <a:r>
              <a:rPr sz="1500" b="0">
                <a:solidFill>
                  <a:srgbClr val="FFFFFF"/>
                </a:solidFill>
                <a:latin typeface="Calibri"/>
              </a:rPr>
              <a:t>+ auto-play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🖍️  </a:t>
            </a:r>
            <a:r>
              <a:rPr sz="1500" b="1">
                <a:solidFill>
                  <a:srgbClr val="FFC93C"/>
                </a:solidFill>
                <a:latin typeface="Calibri"/>
              </a:rPr>
              <a:t>Highlight </a:t>
            </a:r>
            <a:r>
              <a:rPr sz="1500" b="0">
                <a:solidFill>
                  <a:srgbClr val="FFFFFF"/>
                </a:solidFill>
                <a:latin typeface="Calibri"/>
              </a:rPr>
              <a:t>each spoken word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💡  </a:t>
            </a:r>
            <a:r>
              <a:rPr sz="1500" b="1">
                <a:solidFill>
                  <a:srgbClr val="FFC93C"/>
                </a:solidFill>
                <a:latin typeface="Calibri"/>
              </a:rPr>
              <a:t>Moral card </a:t>
            </a:r>
            <a:r>
              <a:rPr sz="1500" b="0">
                <a:solidFill>
                  <a:srgbClr val="FFFFFF"/>
                </a:solidFill>
                <a:latin typeface="Calibri"/>
              </a:rPr>
              <a:t>after every story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❓  </a:t>
            </a:r>
            <a:r>
              <a:rPr sz="1500" b="1">
                <a:solidFill>
                  <a:srgbClr val="FFC93C"/>
                </a:solidFill>
                <a:latin typeface="Calibri"/>
              </a:rPr>
              <a:t>Quiz </a:t>
            </a:r>
            <a:r>
              <a:rPr sz="1500" b="0">
                <a:solidFill>
                  <a:srgbClr val="FFFFFF"/>
                </a:solidFill>
                <a:latin typeface="Calibri"/>
              </a:rPr>
              <a:t>to check understanding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🛠️  </a:t>
            </a:r>
            <a:r>
              <a:rPr sz="1500" b="1">
                <a:solidFill>
                  <a:srgbClr val="FFC93C"/>
                </a:solidFill>
                <a:latin typeface="Calibri"/>
              </a:rPr>
              <a:t>Admin builder: </a:t>
            </a:r>
            <a:r>
              <a:rPr sz="1500" b="0">
                <a:solidFill>
                  <a:srgbClr val="FFFFFF"/>
                </a:solidFill>
                <a:latin typeface="Calibri"/>
              </a:rPr>
              <a:t>pages, art, audio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9C3E6"/>
                </a:solidFill>
                <a:latin typeface="Calibri"/>
              </a:rPr>
              <a:t>Kids Explorer AI  ·  Learn • Play • Imagine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C9C3E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B2A"/>
            </a:gs>
            <a:gs pos="100000">
              <a:srgbClr val="1B15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576072" y="1764792"/>
            <a:ext cx="5888736" cy="3728466"/>
          </a:xfrm>
          <a:prstGeom prst="roundRect">
            <a:avLst>
              <a:gd name="adj" fmla="val 4000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4FA3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5C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5852160"/>
            <a:ext cx="2194560" cy="2194560"/>
          </a:xfrm>
          <a:prstGeom prst="ellipse">
            <a:avLst/>
          </a:prstGeom>
          <a:solidFill>
            <a:srgbClr val="FFC93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616377" cy="347472"/>
          </a:xfrm>
          <a:prstGeom prst="roundRect">
            <a:avLst>
              <a:gd name="adj" fmla="val 50000"/>
            </a:avLst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BRAIN GAMES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15568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Ten games that grow with the child</a:t>
            </a:r>
          </a:p>
        </p:txBody>
      </p:sp>
      <p:pic>
        <p:nvPicPr>
          <p:cNvPr id="7" name="Picture 6" descr="web-sudok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760720" cy="36004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57416" y="1627632"/>
            <a:ext cx="2258568" cy="4517136"/>
          </a:xfrm>
          <a:prstGeom prst="roundRect">
            <a:avLst>
              <a:gd name="adj" fmla="val 9000"/>
            </a:avLst>
          </a:prstGeom>
          <a:solidFill>
            <a:srgbClr val="0E0B1C"/>
          </a:solidFill>
          <a:ln w="25400">
            <a:solidFill>
              <a:srgbClr val="4A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-ga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828800"/>
            <a:ext cx="2057400" cy="4114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58100" y="1677924"/>
            <a:ext cx="457200" cy="64008"/>
          </a:xfrm>
          <a:prstGeom prst="roundRect">
            <a:avLst>
              <a:gd name="adj" fmla="val 50000"/>
            </a:avLst>
          </a:prstGeom>
          <a:solidFill>
            <a:srgbClr val="33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1828800"/>
            <a:ext cx="2743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🔢  </a:t>
            </a:r>
            <a:r>
              <a:rPr sz="1200" b="1">
                <a:solidFill>
                  <a:srgbClr val="FFC93C"/>
                </a:solidFill>
                <a:latin typeface="Calibri"/>
              </a:rPr>
              <a:t>Sudoku </a:t>
            </a:r>
            <a:r>
              <a:rPr sz="1200" b="0">
                <a:solidFill>
                  <a:srgbClr val="FFFFFF"/>
                </a:solidFill>
                <a:latin typeface="Calibri"/>
              </a:rPr>
              <a:t>3×3 pictures → 6×6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🔡  </a:t>
            </a:r>
            <a:r>
              <a:rPr sz="1200" b="1">
                <a:solidFill>
                  <a:srgbClr val="FFC93C"/>
                </a:solidFill>
                <a:latin typeface="Calibri"/>
              </a:rPr>
              <a:t>Word Builder </a:t>
            </a:r>
            <a:r>
              <a:rPr sz="1200" b="0">
                <a:solidFill>
                  <a:srgbClr val="FFFFFF"/>
                </a:solidFill>
                <a:latin typeface="Calibri"/>
              </a:rPr>
              <a:t>spell in English &amp; বাংলা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🎈  </a:t>
            </a:r>
            <a:r>
              <a:rPr sz="1200" b="1">
                <a:solidFill>
                  <a:srgbClr val="FFC93C"/>
                </a:solidFill>
                <a:latin typeface="Calibri"/>
              </a:rPr>
              <a:t>Letter Pop </a:t>
            </a:r>
            <a:r>
              <a:rPr sz="1200" b="0">
                <a:solidFill>
                  <a:srgbClr val="FFFFFF"/>
                </a:solidFill>
                <a:latin typeface="Calibri"/>
              </a:rPr>
              <a:t>listen &amp; pop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🃏  </a:t>
            </a:r>
            <a:r>
              <a:rPr sz="1200" b="1">
                <a:solidFill>
                  <a:srgbClr val="FFC93C"/>
                </a:solidFill>
                <a:latin typeface="Calibri"/>
              </a:rPr>
              <a:t>Memory </a:t>
            </a:r>
            <a:r>
              <a:rPr sz="1200" b="0">
                <a:solidFill>
                  <a:srgbClr val="FFFFFF"/>
                </a:solidFill>
                <a:latin typeface="Calibri"/>
              </a:rPr>
              <a:t>3 → 8 pairs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🔺  </a:t>
            </a:r>
            <a:r>
              <a:rPr sz="1200" b="1">
                <a:solidFill>
                  <a:srgbClr val="FFC93C"/>
                </a:solidFill>
                <a:latin typeface="Calibri"/>
              </a:rPr>
              <a:t>Patterns </a:t>
            </a:r>
            <a:r>
              <a:rPr sz="1200" b="0">
                <a:solidFill>
                  <a:srgbClr val="FFFFFF"/>
                </a:solidFill>
                <a:latin typeface="Calibri"/>
              </a:rPr>
              <a:t>what comes next?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➕  </a:t>
            </a:r>
            <a:r>
              <a:rPr sz="1200" b="1">
                <a:solidFill>
                  <a:srgbClr val="FFC93C"/>
                </a:solidFill>
                <a:latin typeface="Calibri"/>
              </a:rPr>
              <a:t>Number Pop </a:t>
            </a:r>
            <a:r>
              <a:rPr sz="1200" b="0">
                <a:solidFill>
                  <a:srgbClr val="FFFFFF"/>
                </a:solidFill>
                <a:latin typeface="Calibri"/>
              </a:rPr>
              <a:t>count → × tables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⚖️  </a:t>
            </a:r>
            <a:r>
              <a:rPr sz="1200" b="1">
                <a:solidFill>
                  <a:srgbClr val="FFC93C"/>
                </a:solidFill>
                <a:latin typeface="Calibri"/>
              </a:rPr>
              <a:t>More or Less </a:t>
            </a:r>
            <a:r>
              <a:rPr sz="1200" b="0">
                <a:solidFill>
                  <a:srgbClr val="FFFFFF"/>
                </a:solidFill>
                <a:latin typeface="Calibri"/>
              </a:rPr>
              <a:t>compare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👤  </a:t>
            </a:r>
            <a:r>
              <a:rPr sz="1200" b="1">
                <a:solidFill>
                  <a:srgbClr val="FFC93C"/>
                </a:solidFill>
                <a:latin typeface="Calibri"/>
              </a:rPr>
              <a:t>Shadow Match </a:t>
            </a:r>
            <a:r>
              <a:rPr sz="1200" b="0">
                <a:solidFill>
                  <a:srgbClr val="FFFFFF"/>
                </a:solidFill>
                <a:latin typeface="Calibri"/>
              </a:rPr>
              <a:t>visual skills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🕵️  </a:t>
            </a:r>
            <a:r>
              <a:rPr sz="1200" b="1">
                <a:solidFill>
                  <a:srgbClr val="FFC93C"/>
                </a:solidFill>
                <a:latin typeface="Calibri"/>
              </a:rPr>
              <a:t>Odd One Out </a:t>
            </a:r>
            <a:r>
              <a:rPr sz="1200" b="0">
                <a:solidFill>
                  <a:srgbClr val="FFFFFF"/>
                </a:solidFill>
                <a:latin typeface="Calibri"/>
              </a:rPr>
              <a:t>reasoning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❌  </a:t>
            </a:r>
            <a:r>
              <a:rPr sz="1200" b="1">
                <a:solidFill>
                  <a:srgbClr val="FFC93C"/>
                </a:solidFill>
                <a:latin typeface="Calibri"/>
              </a:rPr>
              <a:t>Tic-Tac-Toe </a:t>
            </a:r>
            <a:r>
              <a:rPr sz="1200" b="0">
                <a:solidFill>
                  <a:srgbClr val="FFFFFF"/>
                </a:solidFill>
                <a:latin typeface="Calibri"/>
              </a:rPr>
              <a:t>vs an AI robot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9C3E6"/>
                </a:solidFill>
                <a:latin typeface="Calibri"/>
              </a:rPr>
              <a:t>Kids Explorer AI  ·  Learn • Play • Imagine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C9C3E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4F2B0B"/>
            </a:gs>
            <a:gs pos="100000">
              <a:srgbClr val="1B15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576072" y="1810511"/>
            <a:ext cx="5888736" cy="3728466"/>
          </a:xfrm>
          <a:prstGeom prst="roundRect">
            <a:avLst>
              <a:gd name="adj" fmla="val 4000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4FA3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5C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5852160"/>
            <a:ext cx="2194560" cy="2194560"/>
          </a:xfrm>
          <a:prstGeom prst="ellipse">
            <a:avLst/>
          </a:prstGeom>
          <a:solidFill>
            <a:srgbClr val="FFC93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2346491" cy="347472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EXPLORE THE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15568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15 topics · 141 things to discover</a:t>
            </a:r>
          </a:p>
        </p:txBody>
      </p:sp>
      <p:pic>
        <p:nvPicPr>
          <p:cNvPr id="7" name="Picture 6" descr="web-expl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5760720" cy="36004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57416" y="1627632"/>
            <a:ext cx="2258568" cy="4517136"/>
          </a:xfrm>
          <a:prstGeom prst="roundRect">
            <a:avLst>
              <a:gd name="adj" fmla="val 9000"/>
            </a:avLst>
          </a:prstGeom>
          <a:solidFill>
            <a:srgbClr val="0E0B1C"/>
          </a:solidFill>
          <a:ln w="25400">
            <a:solidFill>
              <a:srgbClr val="4A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-explore-vehic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828800"/>
            <a:ext cx="2057400" cy="4114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58100" y="1677924"/>
            <a:ext cx="457200" cy="64008"/>
          </a:xfrm>
          <a:prstGeom prst="roundRect">
            <a:avLst>
              <a:gd name="adj" fmla="val 50000"/>
            </a:avLst>
          </a:prstGeom>
          <a:solidFill>
            <a:srgbClr val="33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89720" y="1874519"/>
            <a:ext cx="1257651" cy="347472"/>
          </a:xfrm>
          <a:prstGeom prst="roundRect">
            <a:avLst>
              <a:gd name="adj" fmla="val 50000"/>
            </a:avLst>
          </a:prstGeom>
          <a:solidFill>
            <a:srgbClr val="FF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🦁 Animals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57099" y="1874519"/>
            <a:ext cx="1063517" cy="347472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🦜 Birds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2313431"/>
            <a:ext cx="1160584" cy="347472"/>
          </a:xfrm>
          <a:prstGeom prst="roundRect">
            <a:avLst>
              <a:gd name="adj" fmla="val 50000"/>
            </a:avLst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🍎 Fruits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60032" y="2313431"/>
            <a:ext cx="1354718" cy="347472"/>
          </a:xfrm>
          <a:prstGeom prst="roundRect">
            <a:avLst>
              <a:gd name="adj" fmla="val 50000"/>
            </a:avLst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🚗 Vehicles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2752343"/>
            <a:ext cx="1063517" cy="347472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🚢 Ships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62965" y="2752343"/>
            <a:ext cx="1358939" cy="347472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✈️ Planes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3191255"/>
            <a:ext cx="1160584" cy="347472"/>
          </a:xfrm>
          <a:prstGeom prst="roundRect">
            <a:avLst>
              <a:gd name="adj" fmla="val 50000"/>
            </a:avLst>
          </a:prstGeom>
          <a:solidFill>
            <a:srgbClr val="FF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🔷 Shapes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60032" y="3191255"/>
            <a:ext cx="1160584" cy="347472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🌈 Colors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3630167"/>
            <a:ext cx="1257651" cy="347472"/>
          </a:xfrm>
          <a:prstGeom prst="roundRect">
            <a:avLst>
              <a:gd name="adj" fmla="val 50000"/>
            </a:avLst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🔢 Numbers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4069079"/>
            <a:ext cx="1451785" cy="347472"/>
          </a:xfrm>
          <a:prstGeom prst="roundRect">
            <a:avLst>
              <a:gd name="adj" fmla="val 50000"/>
            </a:avLst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🌍 Countries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51233" y="4069079"/>
            <a:ext cx="1063517" cy="347472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🪐 Space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4507991"/>
            <a:ext cx="966450" cy="347472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🧍 Body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65898" y="4507991"/>
            <a:ext cx="1561513" cy="347472"/>
          </a:xfrm>
          <a:prstGeom prst="roundRect">
            <a:avLst>
              <a:gd name="adj" fmla="val 50000"/>
            </a:avLst>
          </a:prstGeom>
          <a:solidFill>
            <a:srgbClr val="FF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🧑‍⚕️ Jobs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4946903"/>
            <a:ext cx="1354718" cy="347472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😊 Feelings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54166" y="4946903"/>
            <a:ext cx="1160584" cy="347472"/>
          </a:xfrm>
          <a:prstGeom prst="roundRect">
            <a:avLst>
              <a:gd name="adj" fmla="val 50000"/>
            </a:avLst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🪥 Habits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5532120"/>
            <a:ext cx="27432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C9C3E6"/>
                </a:solidFill>
                <a:latin typeface="Calibri"/>
              </a:rPr>
              <a:t>Cars drive, ships sail, planes fly. English + বাংলা names, facts, "Find it!" game.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9C3E6"/>
                </a:solidFill>
                <a:latin typeface="Calibri"/>
              </a:rPr>
              <a:t>Kids Explorer AI  ·  Learn • Play • Imagine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C9C3E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B1446"/>
            </a:gs>
            <a:gs pos="100000">
              <a:srgbClr val="060B1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576072" y="1719072"/>
            <a:ext cx="5340096" cy="3385566"/>
          </a:xfrm>
          <a:prstGeom prst="roundRect">
            <a:avLst>
              <a:gd name="adj" fmla="val 4000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4FA3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5C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5852160"/>
            <a:ext cx="2194560" cy="2194560"/>
          </a:xfrm>
          <a:prstGeom prst="ellipse">
            <a:avLst/>
          </a:prstGeom>
          <a:solidFill>
            <a:srgbClr val="FFC93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2038408" cy="347472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★ STAR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15568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Talking Buddy: an AI friend for speaking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411480"/>
            <a:ext cx="2646132" cy="347472"/>
          </a:xfrm>
          <a:prstGeom prst="roundRect">
            <a:avLst>
              <a:gd name="adj" fmla="val 50000"/>
            </a:avLst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100% FREE · ON-DEVICE</a:t>
            </a:r>
          </a:p>
        </p:txBody>
      </p:sp>
      <p:pic>
        <p:nvPicPr>
          <p:cNvPr id="8" name="Picture 7" descr="web-bud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212080" cy="32575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63056" y="1581912"/>
            <a:ext cx="2372868" cy="4745736"/>
          </a:xfrm>
          <a:prstGeom prst="roundRect">
            <a:avLst>
              <a:gd name="adj" fmla="val 9000"/>
            </a:avLst>
          </a:prstGeom>
          <a:solidFill>
            <a:srgbClr val="0E0B1C"/>
          </a:solidFill>
          <a:ln w="25400">
            <a:solidFill>
              <a:srgbClr val="4A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9-bud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3080"/>
            <a:ext cx="2171700" cy="4343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20890" y="1632204"/>
            <a:ext cx="457200" cy="64008"/>
          </a:xfrm>
          <a:prstGeom prst="roundRect">
            <a:avLst>
              <a:gd name="adj" fmla="val 50000"/>
            </a:avLst>
          </a:prstGeom>
          <a:solidFill>
            <a:srgbClr val="33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41080" y="1783080"/>
            <a:ext cx="3246120" cy="530352"/>
          </a:xfrm>
          <a:prstGeom prst="roundRect">
            <a:avLst>
              <a:gd name="adj" fmla="val 12000"/>
            </a:avLst>
          </a:prstGeom>
          <a:solidFill>
            <a:srgbClr val="FF4FA3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9952" y="1828800"/>
            <a:ext cx="3063240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🛡️  Safety filter first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2386584"/>
            <a:ext cx="3246120" cy="530352"/>
          </a:xfrm>
          <a:prstGeom prst="roundRect">
            <a:avLst>
              <a:gd name="adj" fmla="val 12000"/>
            </a:avLst>
          </a:prstGeom>
          <a:solidFill>
            <a:srgbClr val="FF8A3D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9952" y="2432304"/>
            <a:ext cx="3063240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✏️  Grammar &amp; dialect: "i is" → "I am"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2990088"/>
            <a:ext cx="3246120" cy="530352"/>
          </a:xfrm>
          <a:prstGeom prst="roundRect">
            <a:avLst>
              <a:gd name="adj" fmla="val 12000"/>
            </a:avLst>
          </a:prstGeom>
          <a:solidFill>
            <a:srgbClr val="22B573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59952" y="3035808"/>
            <a:ext cx="3063240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👶  Baby talk → formal word + meaning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3593591"/>
            <a:ext cx="3246120" cy="530352"/>
          </a:xfrm>
          <a:prstGeom prst="roundRect">
            <a:avLst>
              <a:gd name="adj" fmla="val 12000"/>
            </a:avLst>
          </a:prstGeom>
          <a:solidFill>
            <a:srgbClr val="1E90FF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59952" y="3639311"/>
            <a:ext cx="3063240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🙏  "gimme water" → "May I please have…?"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4197096"/>
            <a:ext cx="3246120" cy="530352"/>
          </a:xfrm>
          <a:prstGeom prst="roundRect">
            <a:avLst>
              <a:gd name="adj" fmla="val 12000"/>
            </a:avLst>
          </a:prstGeom>
          <a:solidFill>
            <a:srgbClr val="7C5CFF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9952" y="4242816"/>
            <a:ext cx="3063240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❓  Punctuation &amp; capitals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4800600"/>
            <a:ext cx="3246120" cy="530352"/>
          </a:xfrm>
          <a:prstGeom prst="roundRect">
            <a:avLst>
              <a:gd name="adj" fmla="val 12000"/>
            </a:avLst>
          </a:prstGeom>
          <a:solidFill>
            <a:srgbClr val="00C2A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59952" y="4846320"/>
            <a:ext cx="3063240" cy="47548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💬  Answers in voice + 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5440680"/>
            <a:ext cx="329184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C9C3E6"/>
                </a:solidFill>
                <a:latin typeface="Calibri"/>
              </a:rPr>
              <a:t>5 voices (Robot, Bunny, Bear, Astronaut, Fairy) × 5 languages. Optional cloud AI via Gemini/OpenAI edge function.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9C3E6"/>
                </a:solidFill>
                <a:latin typeface="Calibri"/>
              </a:rPr>
              <a:t>Kids Explorer AI  ·  Learn • Play • Imagine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C9C3E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0B2B"/>
            </a:gs>
            <a:gs pos="100000">
              <a:srgbClr val="2A0B4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576072" y="1764792"/>
            <a:ext cx="6163056" cy="3899916"/>
          </a:xfrm>
          <a:prstGeom prst="roundRect">
            <a:avLst>
              <a:gd name="adj" fmla="val 4000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4FA3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5C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5852160"/>
            <a:ext cx="2194560" cy="2194560"/>
          </a:xfrm>
          <a:prstGeom prst="ellipse">
            <a:avLst/>
          </a:prstGeom>
          <a:solidFill>
            <a:srgbClr val="FFC93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869596" cy="347472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FUTURE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15568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AI Lab — kids discover how AI thinks</a:t>
            </a:r>
          </a:p>
        </p:txBody>
      </p:sp>
      <p:pic>
        <p:nvPicPr>
          <p:cNvPr id="7" name="Picture 6" descr="web-ai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6035040" cy="37719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86016" y="1627632"/>
            <a:ext cx="2258568" cy="4517136"/>
          </a:xfrm>
          <a:prstGeom prst="roundRect">
            <a:avLst>
              <a:gd name="adj" fmla="val 9000"/>
            </a:avLst>
          </a:prstGeom>
          <a:solidFill>
            <a:srgbClr val="0E0B1C"/>
          </a:solidFill>
          <a:ln w="25400">
            <a:solidFill>
              <a:srgbClr val="4A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-ai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828800"/>
            <a:ext cx="2057400" cy="4114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886700" y="1677924"/>
            <a:ext cx="457200" cy="64008"/>
          </a:xfrm>
          <a:prstGeom prst="roundRect">
            <a:avLst>
              <a:gd name="adj" fmla="val 50000"/>
            </a:avLst>
          </a:prstGeom>
          <a:solidFill>
            <a:srgbClr val="33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64040" y="1828800"/>
            <a:ext cx="2514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💡  </a:t>
            </a:r>
            <a:r>
              <a:rPr sz="1400" b="1">
                <a:solidFill>
                  <a:srgbClr val="FFC93C"/>
                </a:solidFill>
                <a:latin typeface="Calibri"/>
              </a:rPr>
              <a:t>What is AI? </a:t>
            </a:r>
            <a:r>
              <a:rPr sz="1400" b="0">
                <a:solidFill>
                  <a:srgbClr val="FFFFFF"/>
                </a:solidFill>
                <a:latin typeface="Calibri"/>
              </a:rPr>
              <a:t>5 animated steps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✏️  </a:t>
            </a:r>
            <a:r>
              <a:rPr sz="1400" b="1">
                <a:solidFill>
                  <a:srgbClr val="FFC93C"/>
                </a:solidFill>
                <a:latin typeface="Calibri"/>
              </a:rPr>
              <a:t>Draw &amp; guess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live confidence bars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🧑‍🏫  </a:t>
            </a:r>
            <a:r>
              <a:rPr sz="1400" b="1">
                <a:solidFill>
                  <a:srgbClr val="FFC93C"/>
                </a:solidFill>
                <a:latin typeface="Calibri"/>
              </a:rPr>
              <a:t>Teach the Robot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training data &amp; k-NN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🔮  </a:t>
            </a:r>
            <a:r>
              <a:rPr sz="1400" b="1">
                <a:solidFill>
                  <a:srgbClr val="FFC93C"/>
                </a:solidFill>
                <a:latin typeface="Calibri"/>
              </a:rPr>
              <a:t>Can AI predict? </a:t>
            </a:r>
            <a:r>
              <a:rPr sz="1400" b="0">
                <a:solidFill>
                  <a:srgbClr val="FFFFFF"/>
                </a:solidFill>
                <a:latin typeface="Calibri"/>
              </a:rPr>
              <a:t>— try to trick it!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🤝  </a:t>
            </a:r>
            <a:r>
              <a:rPr sz="1400" b="1">
                <a:solidFill>
                  <a:srgbClr val="FFC93C"/>
                </a:solidFill>
                <a:latin typeface="Calibri"/>
              </a:rPr>
              <a:t>Message: </a:t>
            </a:r>
            <a:r>
              <a:rPr sz="1400" b="0">
                <a:solidFill>
                  <a:srgbClr val="FFFFFF"/>
                </a:solidFill>
                <a:latin typeface="Calibri"/>
              </a:rPr>
              <a:t>AI is a helper made by people; it can be wrong.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9C3E6"/>
                </a:solidFill>
                <a:latin typeface="Calibri"/>
              </a:rPr>
              <a:t>Kids Explorer AI  ·  Learn • Play • Imagine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C9C3E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B1530"/>
            </a:gs>
            <a:gs pos="100000">
              <a:srgbClr val="2A214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8" name="Rounded Rectangle 17"/>
          <p:cNvSpPr/>
          <p:nvPr/>
        </p:nvSpPr>
        <p:spPr>
          <a:xfrm>
            <a:off x="7022592" y="2267712"/>
            <a:ext cx="4791456" cy="3042666"/>
          </a:xfrm>
          <a:prstGeom prst="roundRect">
            <a:avLst>
              <a:gd name="adj" fmla="val 4000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4FA3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5C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5852160"/>
            <a:ext cx="2194560" cy="2194560"/>
          </a:xfrm>
          <a:prstGeom prst="ellipse">
            <a:avLst/>
          </a:prstGeom>
          <a:solidFill>
            <a:srgbClr val="FFC93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2152356" cy="347472"/>
          </a:xfrm>
          <a:prstGeom prst="roundRect">
            <a:avLst>
              <a:gd name="adj" fmla="val 50000"/>
            </a:avLst>
          </a:prstGeom>
          <a:solidFill>
            <a:srgbClr val="FF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PERSONALISATION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15568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Colors that follow the child — or the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0">
                <a:solidFill>
                  <a:srgbClr val="C9C3E6"/>
                </a:solidFill>
                <a:latin typeface="Calibri"/>
              </a:rPr>
              <a:t>Theme modes: Kid chooses · Automatic by gender/hero · One theme for everyone (events).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2084832"/>
            <a:ext cx="2121408" cy="4242816"/>
          </a:xfrm>
          <a:prstGeom prst="roundRect">
            <a:avLst>
              <a:gd name="adj" fmla="val 9000"/>
            </a:avLst>
          </a:prstGeom>
          <a:solidFill>
            <a:srgbClr val="0E0B1C"/>
          </a:solidFill>
          <a:ln w="25400">
            <a:solidFill>
              <a:srgbClr val="4A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-home-bubbleg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1920240" cy="38404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417320" y="2135124"/>
            <a:ext cx="457200" cy="64008"/>
          </a:xfrm>
          <a:prstGeom prst="roundRect">
            <a:avLst>
              <a:gd name="adj" fmla="val 50000"/>
            </a:avLst>
          </a:prstGeom>
          <a:solidFill>
            <a:srgbClr val="33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88336" y="2084832"/>
            <a:ext cx="2121408" cy="4242816"/>
          </a:xfrm>
          <a:prstGeom prst="roundRect">
            <a:avLst>
              <a:gd name="adj" fmla="val 9000"/>
            </a:avLst>
          </a:prstGeom>
          <a:solidFill>
            <a:srgbClr val="0E0B1C"/>
          </a:solidFill>
          <a:ln w="25400">
            <a:solidFill>
              <a:srgbClr val="4A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-home-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2286000"/>
            <a:ext cx="1920240" cy="3840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520440" y="2135124"/>
            <a:ext cx="457200" cy="64008"/>
          </a:xfrm>
          <a:prstGeom prst="roundRect">
            <a:avLst>
              <a:gd name="adj" fmla="val 50000"/>
            </a:avLst>
          </a:prstGeom>
          <a:solidFill>
            <a:srgbClr val="33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91456" y="2084832"/>
            <a:ext cx="2121408" cy="4242816"/>
          </a:xfrm>
          <a:prstGeom prst="roundRect">
            <a:avLst>
              <a:gd name="adj" fmla="val 9000"/>
            </a:avLst>
          </a:prstGeom>
          <a:solidFill>
            <a:srgbClr val="0E0B1C"/>
          </a:solidFill>
          <a:ln w="25400">
            <a:solidFill>
              <a:srgbClr val="4A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8-sudok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286000"/>
            <a:ext cx="1920240" cy="38404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623560" y="2135124"/>
            <a:ext cx="457200" cy="64008"/>
          </a:xfrm>
          <a:prstGeom prst="roundRect">
            <a:avLst>
              <a:gd name="adj" fmla="val 50000"/>
            </a:avLst>
          </a:prstGeom>
          <a:solidFill>
            <a:srgbClr val="33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dmin-theme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2331720"/>
            <a:ext cx="4663440" cy="2914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86600" y="5349240"/>
            <a:ext cx="466344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C9C3E6"/>
                </a:solidFill>
                <a:latin typeface="Calibri"/>
              </a:rPr>
              <a:t>6 editable themes · gender → theme mapping · heroes · fonts · live preview — applied remotely to web &amp; Android.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9C3E6"/>
                </a:solidFill>
                <a:latin typeface="Calibri"/>
              </a:rPr>
              <a:t>Kids Explorer AI  ·  Learn • Play • Imagine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C9C3E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B1530"/>
            </a:gs>
            <a:gs pos="100000">
              <a:srgbClr val="2A214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576072" y="1764792"/>
            <a:ext cx="6345936" cy="4014216"/>
          </a:xfrm>
          <a:prstGeom prst="roundRect">
            <a:avLst>
              <a:gd name="adj" fmla="val 4000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4FA3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5C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5852160"/>
            <a:ext cx="2194560" cy="2194560"/>
          </a:xfrm>
          <a:prstGeom prst="ellipse">
            <a:avLst/>
          </a:prstGeom>
          <a:solidFill>
            <a:srgbClr val="FFC93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869596" cy="347472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SAFE CARTOONS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15568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Age-curated video hub</a:t>
            </a:r>
          </a:p>
        </p:txBody>
      </p:sp>
      <p:pic>
        <p:nvPicPr>
          <p:cNvPr id="7" name="Picture 6" descr="admin-vide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6217920" cy="388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1828800"/>
            <a:ext cx="4480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🎯  </a:t>
            </a:r>
            <a:r>
              <a:rPr sz="1600" b="1">
                <a:solidFill>
                  <a:srgbClr val="FFC93C"/>
                </a:solidFill>
                <a:latin typeface="Calibri"/>
              </a:rPr>
              <a:t>Filtered by age group </a:t>
            </a:r>
            <a:r>
              <a:rPr sz="1600" b="0">
                <a:solidFill>
                  <a:srgbClr val="FFFFFF"/>
                </a:solidFill>
                <a:latin typeface="Calibri"/>
              </a:rPr>
              <a:t>chosen in onboarding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🔗  </a:t>
            </a:r>
            <a:r>
              <a:rPr sz="1600" b="1">
                <a:solidFill>
                  <a:srgbClr val="FFC93C"/>
                </a:solidFill>
                <a:latin typeface="Calibri"/>
              </a:rPr>
              <a:t>Paste any YouTube link </a:t>
            </a:r>
            <a:r>
              <a:rPr sz="1600" b="0">
                <a:solidFill>
                  <a:srgbClr val="FFFFFF"/>
                </a:solidFill>
                <a:latin typeface="Calibri"/>
              </a:rPr>
              <a:t>— ID &amp; thumbnail detected, preview plays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🕶️  </a:t>
            </a:r>
            <a:r>
              <a:rPr sz="1600" b="1">
                <a:solidFill>
                  <a:srgbClr val="FFC93C"/>
                </a:solidFill>
                <a:latin typeface="Calibri"/>
              </a:rPr>
              <a:t>Privacy-enhanced embeds </a:t>
            </a:r>
            <a:r>
              <a:rPr sz="1600" b="0">
                <a:solidFill>
                  <a:srgbClr val="FFFFFF"/>
                </a:solidFill>
                <a:latin typeface="Calibri"/>
              </a:rPr>
              <a:t>(youtube-nocookie), related videos limited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🚫  </a:t>
            </a:r>
            <a:r>
              <a:rPr sz="1600" b="1">
                <a:solidFill>
                  <a:srgbClr val="FFC93C"/>
                </a:solidFill>
                <a:latin typeface="Calibri"/>
              </a:rPr>
              <a:t>No outbound links: </a:t>
            </a:r>
            <a:r>
              <a:rPr sz="1600" b="0">
                <a:solidFill>
                  <a:srgbClr val="FFFFFF"/>
                </a:solidFill>
                <a:latin typeface="Calibri"/>
              </a:rPr>
              <a:t>tap shield over the title bar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🗂️  </a:t>
            </a:r>
            <a:r>
              <a:rPr sz="1600" b="1">
                <a:solidFill>
                  <a:srgbClr val="FFC93C"/>
                </a:solidFill>
                <a:latin typeface="Calibri"/>
              </a:rPr>
              <a:t>Categories: </a:t>
            </a:r>
            <a:r>
              <a:rPr sz="1600" b="0">
                <a:solidFill>
                  <a:srgbClr val="FFFFFF"/>
                </a:solidFill>
                <a:latin typeface="Calibri"/>
              </a:rPr>
              <a:t>Songs, Alphabet, Stories, Science, Math…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🎬  </a:t>
            </a:r>
            <a:r>
              <a:rPr sz="1600" b="1">
                <a:solidFill>
                  <a:srgbClr val="FFC93C"/>
                </a:solidFill>
                <a:latin typeface="Calibri"/>
              </a:rPr>
              <a:t>Also Vimeo &amp; MP4 </a:t>
            </a:r>
            <a:r>
              <a:rPr sz="1600" b="0">
                <a:solidFill>
                  <a:srgbClr val="FFFFFF"/>
                </a:solidFill>
                <a:latin typeface="Calibri"/>
              </a:rPr>
              <a:t>on the 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9C3E6"/>
                </a:solidFill>
                <a:latin typeface="Calibri"/>
              </a:rPr>
              <a:t>Kids Explorer AI  ·  Learn • Play • Imagine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C9C3E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028"/>
            </a:gs>
            <a:gs pos="100000">
              <a:srgbClr val="2A214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576072" y="1764792"/>
            <a:ext cx="7077456" cy="4471416"/>
          </a:xfrm>
          <a:prstGeom prst="roundRect">
            <a:avLst>
              <a:gd name="adj" fmla="val 4000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4FA3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5C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5852160"/>
            <a:ext cx="2194560" cy="2194560"/>
          </a:xfrm>
          <a:prstGeom prst="ellipse">
            <a:avLst/>
          </a:prstGeom>
          <a:solidFill>
            <a:srgbClr val="FFC93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616377" cy="347472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ADMIN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15568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One dashboard for web + Android</a:t>
            </a:r>
          </a:p>
        </p:txBody>
      </p:sp>
      <p:pic>
        <p:nvPicPr>
          <p:cNvPr id="7" name="Picture 6" descr="admin-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6949440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1828800"/>
            <a:ext cx="3840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📊  </a:t>
            </a:r>
            <a:r>
              <a:rPr sz="1600" b="1">
                <a:solidFill>
                  <a:srgbClr val="FFC93C"/>
                </a:solidFill>
                <a:latin typeface="Calibri"/>
              </a:rPr>
              <a:t>Daily sessions </a:t>
            </a:r>
            <a:r>
              <a:rPr sz="1600" b="0">
                <a:solidFill>
                  <a:srgbClr val="FFFFFF"/>
                </a:solidFill>
                <a:latin typeface="Calibri"/>
              </a:rPr>
              <a:t>Web vs Android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📖  </a:t>
            </a:r>
            <a:r>
              <a:rPr sz="1600" b="1">
                <a:solidFill>
                  <a:srgbClr val="FFC93C"/>
                </a:solidFill>
                <a:latin typeface="Calibri"/>
              </a:rPr>
              <a:t>Top stories, </a:t>
            </a:r>
            <a:r>
              <a:rPr sz="1600" b="0">
                <a:solidFill>
                  <a:srgbClr val="FFFFFF"/>
                </a:solidFill>
                <a:latin typeface="Calibri"/>
              </a:rPr>
              <a:t>popular games, most-watched videos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🎂  </a:t>
            </a:r>
            <a:r>
              <a:rPr sz="1600" b="1">
                <a:solidFill>
                  <a:srgbClr val="FFC93C"/>
                </a:solidFill>
                <a:latin typeface="Calibri"/>
              </a:rPr>
              <a:t>Age, theme, platform </a:t>
            </a:r>
            <a:r>
              <a:rPr sz="1600" b="0">
                <a:solidFill>
                  <a:srgbClr val="FFFFFF"/>
                </a:solidFill>
                <a:latin typeface="Calibri"/>
              </a:rPr>
              <a:t>and language split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📈  </a:t>
            </a:r>
            <a:r>
              <a:rPr sz="1600" b="1">
                <a:solidFill>
                  <a:srgbClr val="FFC93C"/>
                </a:solidFill>
                <a:latin typeface="Calibri"/>
              </a:rPr>
              <a:t>Reports </a:t>
            </a:r>
            <a:r>
              <a:rPr sz="1600" b="0">
                <a:solidFill>
                  <a:srgbClr val="FFFFFF"/>
                </a:solidFill>
                <a:latin typeface="Calibri"/>
              </a:rPr>
              <a:t>with filters &amp; CSV export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🔒  </a:t>
            </a:r>
            <a:r>
              <a:rPr sz="1600" b="1">
                <a:solidFill>
                  <a:srgbClr val="FFC93C"/>
                </a:solidFill>
                <a:latin typeface="Calibri"/>
              </a:rPr>
              <a:t>Anonymous only: </a:t>
            </a:r>
            <a:r>
              <a:rPr sz="1600" b="0">
                <a:solidFill>
                  <a:srgbClr val="FFFFFF"/>
                </a:solidFill>
                <a:latin typeface="Calibri"/>
              </a:rPr>
              <a:t>no names, no device IDs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👥  </a:t>
            </a:r>
            <a:r>
              <a:rPr sz="1600" b="1">
                <a:solidFill>
                  <a:srgbClr val="FFC93C"/>
                </a:solidFill>
                <a:latin typeface="Calibri"/>
              </a:rPr>
              <a:t>Roles: </a:t>
            </a:r>
            <a:r>
              <a:rPr sz="1600" b="0">
                <a:solidFill>
                  <a:srgbClr val="FFFFFF"/>
                </a:solidFill>
                <a:latin typeface="Calibri"/>
              </a:rPr>
              <a:t>owner · editor · viewer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9C3E6"/>
                </a:solidFill>
                <a:latin typeface="Calibri"/>
              </a:rPr>
              <a:t>Kids Explorer AI  ·  Learn • Play • Imagine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C9C3E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028"/>
            </a:gs>
            <a:gs pos="100000">
              <a:srgbClr val="2A214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Rounded Rectangle 9"/>
          <p:cNvSpPr/>
          <p:nvPr/>
        </p:nvSpPr>
        <p:spPr>
          <a:xfrm>
            <a:off x="6428232" y="1764792"/>
            <a:ext cx="5248656" cy="3328416"/>
          </a:xfrm>
          <a:prstGeom prst="roundRect">
            <a:avLst>
              <a:gd name="adj" fmla="val 4000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" y="1764792"/>
            <a:ext cx="5614416" cy="3557016"/>
          </a:xfrm>
          <a:prstGeom prst="roundRect">
            <a:avLst>
              <a:gd name="adj" fmla="val 4000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4FA3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5C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5852160"/>
            <a:ext cx="2194560" cy="2194560"/>
          </a:xfrm>
          <a:prstGeom prst="ellipse">
            <a:avLst/>
          </a:prstGeom>
          <a:solidFill>
            <a:srgbClr val="FFC93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996205" cy="347472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CONTENT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15568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Change everything without an app update</a:t>
            </a:r>
          </a:p>
        </p:txBody>
      </p:sp>
      <p:pic>
        <p:nvPicPr>
          <p:cNvPr id="7" name="Picture 6" descr="admin-story-buil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486400" cy="3429000"/>
          </a:xfrm>
          <a:prstGeom prst="rect">
            <a:avLst/>
          </a:prstGeom>
        </p:spPr>
      </p:pic>
      <p:pic>
        <p:nvPicPr>
          <p:cNvPr id="9" name="Picture 8" descr="admin-budd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28800"/>
            <a:ext cx="5120640" cy="32004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5486400"/>
            <a:ext cx="2257864" cy="347472"/>
          </a:xfrm>
          <a:prstGeom prst="roundRect">
            <a:avLst>
              <a:gd name="adj" fmla="val 50000"/>
            </a:avLst>
          </a:prstGeom>
          <a:solidFill>
            <a:srgbClr val="FF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📖 Storybook Builder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07672" y="5486400"/>
            <a:ext cx="1869596" cy="347472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📺 Video Curator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6996" y="5486400"/>
            <a:ext cx="2160797" cy="347472"/>
          </a:xfrm>
          <a:prstGeom prst="roundRect">
            <a:avLst>
              <a:gd name="adj" fmla="val 50000"/>
            </a:avLst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🔤 Alphabet &amp; Words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57521" y="5486400"/>
            <a:ext cx="1966663" cy="347472"/>
          </a:xfrm>
          <a:prstGeom prst="roundRect">
            <a:avLst>
              <a:gd name="adj" fmla="val 50000"/>
            </a:avLst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🦁 Explore Topics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3912" y="5486400"/>
            <a:ext cx="966450" cy="347472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❓ Quiz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925312"/>
            <a:ext cx="3101926" cy="347472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🤖 Buddy rules + test console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51734" y="5925312"/>
            <a:ext cx="2912012" cy="347472"/>
          </a:xfrm>
          <a:prstGeom prst="roundRect">
            <a:avLst>
              <a:gd name="adj" fmla="val 50000"/>
            </a:avLst>
          </a:prstGeom>
          <a:solidFill>
            <a:srgbClr val="FF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⚙️ Features &amp; level order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73474" y="5925312"/>
            <a:ext cx="2063730" cy="347472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💾 Import /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9C3E6"/>
                </a:solidFill>
                <a:latin typeface="Calibri"/>
              </a:rPr>
              <a:t>Kids Explorer AI  ·  Learn • Play • Imagine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C9C3E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2A1F"/>
            </a:gs>
            <a:gs pos="100000">
              <a:srgbClr val="1B153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576072" y="1764792"/>
            <a:ext cx="6163056" cy="3899916"/>
          </a:xfrm>
          <a:prstGeom prst="roundRect">
            <a:avLst>
              <a:gd name="adj" fmla="val 4000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4FA3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5C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5852160"/>
            <a:ext cx="2194560" cy="2194560"/>
          </a:xfrm>
          <a:prstGeom prst="ellipse">
            <a:avLst/>
          </a:prstGeom>
          <a:solidFill>
            <a:srgbClr val="FFC93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3359364" cy="347472"/>
          </a:xfrm>
          <a:prstGeom prst="roundRect">
            <a:avLst>
              <a:gd name="adj" fmla="val 50000"/>
            </a:avLst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MONETISATION, RESPONSIBLY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15568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AdMob ready for Google Play Families</a:t>
            </a:r>
          </a:p>
        </p:txBody>
      </p:sp>
      <p:pic>
        <p:nvPicPr>
          <p:cNvPr id="7" name="Picture 6" descr="admin-admo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6035040" cy="37719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086600" y="1828800"/>
            <a:ext cx="4800600" cy="475488"/>
          </a:xfrm>
          <a:prstGeom prst="roundRect">
            <a:avLst>
              <a:gd name="adj" fmla="val 12000"/>
            </a:avLst>
          </a:prstGeom>
          <a:solidFill>
            <a:srgbClr val="22B573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883664"/>
            <a:ext cx="4572000" cy="4114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✅  Child-directed requests, max rating 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2395728"/>
            <a:ext cx="4800600" cy="475488"/>
          </a:xfrm>
          <a:prstGeom prst="roundRect">
            <a:avLst>
              <a:gd name="adj" fmla="val 12000"/>
            </a:avLst>
          </a:prstGeom>
          <a:solidFill>
            <a:srgbClr val="22B573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450592"/>
            <a:ext cx="4572000" cy="4114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✅  Non-personalised ads, no remarketing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2962656"/>
            <a:ext cx="4800600" cy="475488"/>
          </a:xfrm>
          <a:prstGeom prst="roundRect">
            <a:avLst>
              <a:gd name="adj" fmla="val 12000"/>
            </a:avLst>
          </a:prstGeom>
          <a:solidFill>
            <a:srgbClr val="22B573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3017520"/>
            <a:ext cx="4572000" cy="4114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✅  AD_ID permission removed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3529584"/>
            <a:ext cx="4800600" cy="475488"/>
          </a:xfrm>
          <a:prstGeom prst="roundRect">
            <a:avLst>
              <a:gd name="adj" fmla="val 12000"/>
            </a:avLst>
          </a:prstGeom>
          <a:solidFill>
            <a:srgbClr val="22B573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3584448"/>
            <a:ext cx="4572000" cy="4114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✅  Banners on menus only, capped interstitials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4096512"/>
            <a:ext cx="4800600" cy="475488"/>
          </a:xfrm>
          <a:prstGeom prst="roundRect">
            <a:avLst>
              <a:gd name="adj" fmla="val 12000"/>
            </a:avLst>
          </a:prstGeom>
          <a:solidFill>
            <a:srgbClr val="22B573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4151376"/>
            <a:ext cx="4572000" cy="4114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✅  Rewarded ads behind the parental gate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4663440"/>
            <a:ext cx="4800600" cy="475488"/>
          </a:xfrm>
          <a:prstGeom prst="roundRect">
            <a:avLst>
              <a:gd name="adj" fmla="val 12000"/>
            </a:avLst>
          </a:prstGeom>
          <a:solidFill>
            <a:srgbClr val="22B573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718304"/>
            <a:ext cx="4572000" cy="4114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✅  Remote kill-switch from the admin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5230368"/>
            <a:ext cx="4800600" cy="475488"/>
          </a:xfrm>
          <a:prstGeom prst="roundRect">
            <a:avLst>
              <a:gd name="adj" fmla="val 12000"/>
            </a:avLst>
          </a:prstGeom>
          <a:solidFill>
            <a:srgbClr val="22B573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5285232"/>
            <a:ext cx="4572000" cy="4114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✅  No accounts, data stays on device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9C3E6"/>
                </a:solidFill>
                <a:latin typeface="Calibri"/>
              </a:rPr>
              <a:t>Kids Explorer AI  ·  Learn • Play • Imagine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C9C3E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B1530"/>
            </a:gs>
            <a:gs pos="100000">
              <a:srgbClr val="2A214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4FA3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5C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5852160"/>
            <a:ext cx="2194560" cy="2194560"/>
          </a:xfrm>
          <a:prstGeom prst="ellipse">
            <a:avLst/>
          </a:prstGeom>
          <a:solidFill>
            <a:srgbClr val="FFC93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966663" cy="347472"/>
          </a:xfrm>
          <a:prstGeom prst="roundRect">
            <a:avLst>
              <a:gd name="adj" fmla="val 50000"/>
            </a:avLst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UNDER THE 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15568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Architecture &amp; tech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7C5C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🛠️ Admin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33472"/>
            <a:ext cx="3017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C9C3E6"/>
                </a:solidFill>
                <a:latin typeface="Calibri"/>
              </a:rPr>
              <a:t>React · Tailwind · Supabase 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0312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1E90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212848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🗄️ Supabase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33472"/>
            <a:ext cx="3017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C9C3E6"/>
                </a:solidFill>
                <a:latin typeface="Calibri"/>
              </a:rPr>
              <a:t>Postgres JSONB + RLS · Storage · 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0020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FF4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09928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🌐 Website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30552"/>
            <a:ext cx="3017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C9C3E6"/>
                </a:solidFill>
                <a:latin typeface="Calibri"/>
              </a:rPr>
              <a:t>React · Vite · Framer Motion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92608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22B57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035808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📱 Android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456432"/>
            <a:ext cx="3017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C9C3E6"/>
                </a:solidFill>
                <a:latin typeface="Calibri"/>
              </a:rPr>
              <a:t>Flutter · AdMob · TTS/STT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06908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FF8A3D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4178808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🧠 Buddy AI (optional)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599432"/>
            <a:ext cx="3017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C9C3E6"/>
                </a:solidFill>
                <a:latin typeface="Calibri"/>
              </a:rPr>
              <a:t>Gemini / OpenAI-compatible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6908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00C2A8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78808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📦 shared/content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599432"/>
            <a:ext cx="3017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C9C3E6"/>
                </a:solidFill>
                <a:latin typeface="Calibri"/>
              </a:rPr>
              <a:t>JSON seed → every app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31920" y="2606040"/>
            <a:ext cx="502920" cy="0"/>
          </a:xfrm>
          <a:prstGeom prst="line">
            <a:avLst/>
          </a:prstGeom>
          <a:ln w="38100">
            <a:solidFill>
              <a:srgbClr val="FFC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726679" y="2103120"/>
            <a:ext cx="502921" cy="365760"/>
          </a:xfrm>
          <a:prstGeom prst="line">
            <a:avLst/>
          </a:prstGeom>
          <a:ln w="38100">
            <a:solidFill>
              <a:srgbClr val="FFC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726679" y="2743200"/>
            <a:ext cx="502921" cy="685800"/>
          </a:xfrm>
          <a:prstGeom prst="line">
            <a:avLst/>
          </a:prstGeom>
          <a:ln w="38100">
            <a:solidFill>
              <a:srgbClr val="FFC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80760" y="3154680"/>
            <a:ext cx="0" cy="914400"/>
          </a:xfrm>
          <a:prstGeom prst="line">
            <a:avLst/>
          </a:prstGeom>
          <a:ln w="38100">
            <a:solidFill>
              <a:srgbClr val="FFC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286000" y="3154680"/>
            <a:ext cx="0" cy="914400"/>
          </a:xfrm>
          <a:prstGeom prst="line">
            <a:avLst/>
          </a:prstGeom>
          <a:ln w="38100">
            <a:solidFill>
              <a:srgbClr val="FFC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53492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⚡  </a:t>
            </a:r>
            <a:r>
              <a:rPr sz="1400" b="1">
                <a:solidFill>
                  <a:srgbClr val="FFC93C"/>
                </a:solidFill>
                <a:latin typeface="Calibri"/>
              </a:rPr>
              <a:t>Offline-first: </a:t>
            </a:r>
            <a:r>
              <a:rPr sz="1400" b="0">
                <a:solidFill>
                  <a:srgbClr val="FFFFFF"/>
                </a:solidFill>
                <a:latin typeface="Calibri"/>
              </a:rPr>
              <a:t>seed → cache → refresh.  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🔐  </a:t>
            </a:r>
            <a:r>
              <a:rPr sz="1400" b="1">
                <a:solidFill>
                  <a:srgbClr val="FFC93C"/>
                </a:solidFill>
                <a:latin typeface="Calibri"/>
              </a:rPr>
              <a:t>RLS: </a:t>
            </a:r>
            <a:r>
              <a:rPr sz="1400" b="0">
                <a:solidFill>
                  <a:srgbClr val="FFFFFF"/>
                </a:solidFill>
                <a:latin typeface="Calibri"/>
              </a:rPr>
              <a:t>apps read published content &amp; insert anonymous events only; admins write.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9C3E6"/>
                </a:solidFill>
                <a:latin typeface="Calibri"/>
              </a:rPr>
              <a:t>Kids Explorer AI  ·  Learn • Play • Imagine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C9C3E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B1530"/>
            </a:gs>
            <a:gs pos="100000">
              <a:srgbClr val="2A214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4FA3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5C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5852160"/>
            <a:ext cx="2194560" cy="2194560"/>
          </a:xfrm>
          <a:prstGeom prst="ellipse">
            <a:avLst/>
          </a:prstGeom>
          <a:solidFill>
            <a:srgbClr val="FFC93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139483" cy="347472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15568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Tested, linted and documented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606040" cy="3108960"/>
          </a:xfrm>
          <a:prstGeom prst="roundRect">
            <a:avLst>
              <a:gd name="adj" fmla="val 12000"/>
            </a:avLst>
          </a:prstGeom>
          <a:solidFill>
            <a:srgbClr val="22B57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21945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000" b="1">
                <a:solidFill>
                  <a:srgbClr val="FFC93C"/>
                </a:solidFill>
                <a:latin typeface="Arial Black"/>
              </a:rPr>
              <a:t>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21945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Flutter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219456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C9C3E6"/>
                </a:solidFill>
                <a:latin typeface="Calibri"/>
              </a:rPr>
              <a:t>engine parity, tracing, games, every screen in English &amp; Bangla, onboarding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03120"/>
            <a:ext cx="2606040" cy="3108960"/>
          </a:xfrm>
          <a:prstGeom prst="roundRect">
            <a:avLst>
              <a:gd name="adj" fmla="val 12000"/>
            </a:avLst>
          </a:prstGeom>
          <a:solidFill>
            <a:srgbClr val="FF4FA3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240280"/>
            <a:ext cx="21945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000" b="1">
                <a:solidFill>
                  <a:srgbClr val="FFC93C"/>
                </a:solidFill>
                <a:latin typeface="Arial Black"/>
              </a:rP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429000"/>
            <a:ext cx="21945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Web unit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931920"/>
            <a:ext cx="219456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C9C3E6"/>
                </a:solidFill>
                <a:latin typeface="Calibri"/>
              </a:rPr>
              <a:t>buddy engine, speech segments, games, AI-lab, content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03120"/>
            <a:ext cx="2606040" cy="3108960"/>
          </a:xfrm>
          <a:prstGeom prst="roundRect">
            <a:avLst>
              <a:gd name="adj" fmla="val 12000"/>
            </a:avLst>
          </a:prstGeom>
          <a:solidFill>
            <a:srgbClr val="7C5C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240280"/>
            <a:ext cx="21945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000" b="1">
                <a:solidFill>
                  <a:srgbClr val="FFC93C"/>
                </a:solidFill>
                <a:latin typeface="Arial Black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29000"/>
            <a:ext cx="21945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Lint issues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931920"/>
            <a:ext cx="219456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C9C3E6"/>
                </a:solidFill>
                <a:latin typeface="Calibri"/>
              </a:rPr>
              <a:t>flutter analyze · ESLint (web + admin)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2103120"/>
            <a:ext cx="2606040" cy="3108960"/>
          </a:xfrm>
          <a:prstGeom prst="roundRect">
            <a:avLst>
              <a:gd name="adj" fmla="val 12000"/>
            </a:avLst>
          </a:prstGeom>
          <a:solidFill>
            <a:srgbClr val="FF8A3D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240280"/>
            <a:ext cx="21945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000" b="1">
                <a:solidFill>
                  <a:srgbClr val="FFC93C"/>
                </a:solidFill>
                <a:latin typeface="Arial Black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429000"/>
            <a:ext cx="21945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Guides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931920"/>
            <a:ext cx="219456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C9C3E6"/>
                </a:solidFill>
                <a:latin typeface="Calibri"/>
              </a:rPr>
              <a:t>README per app, build guide (Win/mac), Play Store, privacy,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C9C3E6"/>
                </a:solidFill>
                <a:latin typeface="Calibri"/>
              </a:rPr>
              <a:t>Store screenshots of the real Android screens are generated automatically: flutter test --tags screenshots --run-skipped --update-goldens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9C3E6"/>
                </a:solidFill>
                <a:latin typeface="Calibri"/>
              </a:rPr>
              <a:t>Kids Explorer AI  ·  Learn • Play • Imagine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C9C3E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B1530"/>
            </a:gs>
            <a:gs pos="100000">
              <a:srgbClr val="2A214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4FA3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5C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5852160"/>
            <a:ext cx="2194560" cy="2194560"/>
          </a:xfrm>
          <a:prstGeom prst="ellipse">
            <a:avLst/>
          </a:prstGeom>
          <a:solidFill>
            <a:srgbClr val="FFC93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616377" cy="347472"/>
          </a:xfrm>
          <a:prstGeom prst="roundRect">
            <a:avLst>
              <a:gd name="adj" fmla="val 50000"/>
            </a:avLst>
          </a:prstGeom>
          <a:solidFill>
            <a:srgbClr val="FF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GET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15568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 Black"/>
              </a:rPr>
              <a:t>From clone to Play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0">
                <a:solidFill>
                  <a:srgbClr val="C9C3E6"/>
                </a:solidFill>
                <a:latin typeface="Calibri"/>
              </a:rPr>
              <a:t>Works on Windows and macOS — full guide in docs/BUILD_GUIDE.md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FF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🌐 Website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286000"/>
            <a:ext cx="9052560" cy="603504"/>
          </a:xfrm>
          <a:prstGeom prst="roundRect">
            <a:avLst>
              <a:gd name="adj" fmla="val 12000"/>
            </a:avLst>
          </a:prstGeom>
          <a:solidFill>
            <a:srgbClr val="0A08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404872"/>
            <a:ext cx="8686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0">
                <a:solidFill>
                  <a:srgbClr val="9CFFD6"/>
                </a:solidFill>
                <a:latin typeface="Consolas"/>
              </a:rPr>
              <a:t>cd web &amp;&amp; npm install &amp;&amp; npm run dev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1012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🛠️ 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3200400"/>
            <a:ext cx="9052560" cy="603504"/>
          </a:xfrm>
          <a:prstGeom prst="roundRect">
            <a:avLst>
              <a:gd name="adj" fmla="val 12000"/>
            </a:avLst>
          </a:prstGeom>
          <a:solidFill>
            <a:srgbClr val="0A08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3319272"/>
            <a:ext cx="8686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0">
                <a:solidFill>
                  <a:srgbClr val="9CFFD6"/>
                </a:solidFill>
                <a:latin typeface="Consolas"/>
              </a:rPr>
              <a:t>cd admin &amp;&amp; npm install &amp;&amp; npm run dev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2452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📱 Android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4114800"/>
            <a:ext cx="9052560" cy="603504"/>
          </a:xfrm>
          <a:prstGeom prst="roundRect">
            <a:avLst>
              <a:gd name="adj" fmla="val 12000"/>
            </a:avLst>
          </a:prstGeom>
          <a:solidFill>
            <a:srgbClr val="0A08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233672"/>
            <a:ext cx="8686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0">
                <a:solidFill>
                  <a:srgbClr val="9CFFD6"/>
                </a:solidFill>
                <a:latin typeface="Consolas"/>
              </a:rPr>
              <a:t>cd mobile &amp;&amp; flutter pub get &amp;&amp; flutter run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3892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📦 Play Store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5029200"/>
            <a:ext cx="9052560" cy="603504"/>
          </a:xfrm>
          <a:prstGeom prst="roundRect">
            <a:avLst>
              <a:gd name="adj" fmla="val 12000"/>
            </a:avLst>
          </a:prstGeom>
          <a:solidFill>
            <a:srgbClr val="0A08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5148072"/>
            <a:ext cx="8686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0">
                <a:solidFill>
                  <a:srgbClr val="9CFFD6"/>
                </a:solidFill>
                <a:latin typeface="Consolas"/>
              </a:rPr>
              <a:t>flutter build appbundle --release -PadmobAppId=…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C9C3E6"/>
                </a:solidFill>
                <a:latin typeface="Calibri"/>
              </a:rPr>
              <a:t>Next: offline voice packs · handwriting recognition for tracing · classroom mode · 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9C3E6"/>
                </a:solidFill>
                <a:latin typeface="Calibri"/>
              </a:rPr>
              <a:t>Kids Explorer AI  ·  Learn • Play • Imagine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C9C3E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B0B4F"/>
            </a:gs>
            <a:gs pos="100000">
              <a:srgbClr val="0B0B2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FF4FA3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7C5CFF">
              <a:alpha val="1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5852160"/>
            <a:ext cx="2194560" cy="2194560"/>
          </a:xfrm>
          <a:prstGeom prst="ellipse">
            <a:avLst/>
          </a:prstGeom>
          <a:solidFill>
            <a:srgbClr val="FFC93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914400"/>
            <a:ext cx="4114800" cy="4114800"/>
          </a:xfrm>
          <a:prstGeom prst="ellipse">
            <a:avLst/>
          </a:prstGeom>
          <a:solidFill>
            <a:srgbClr val="FF4FA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 Black"/>
              </a:rPr>
              <a:t>Learn • Play • Imagine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12471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Calibri"/>
              </a:rPr>
              <a:t>🚀 🦁 📖 🧩 🤖 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43400"/>
            <a:ext cx="112471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C9C3E6"/>
                </a:solidFill>
                <a:latin typeface="Calibri"/>
              </a:rPr>
              <a:t>Kids Explorer AI — website · Android app · admin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C9C3E6"/>
                </a:solidFill>
                <a:latin typeface="Calibri"/>
              </a:rPr>
              <a:t>Kids Explorer AI  ·  Learn • Play • Imagine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C9C3E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